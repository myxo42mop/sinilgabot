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2300" y="1058"/>
            <a:ext cx="7899400" cy="3711575"/>
          </a:xfrm>
        </p:spPr>
        <p:txBody>
          <a:bodyPr>
            <a:normAutofit/>
          </a:bodyPr>
          <a:lstStyle/>
          <a:p>
            <a:r>
              <a:rPr sz="6000" dirty="0" err="1">
                <a:solidFill>
                  <a:schemeClr val="bg1"/>
                </a:solidFill>
                <a:latin typeface="Muller Black" pitchFamily="50" charset="-52"/>
                <a:ea typeface="Microsoft JhengHei UI Light" panose="020B0304030504040204" pitchFamily="34" charset="-120"/>
              </a:rPr>
              <a:t>Синильга</a:t>
            </a:r>
            <a:r>
              <a:rPr lang="ru-RU" sz="6000" dirty="0">
                <a:solidFill>
                  <a:schemeClr val="bg1"/>
                </a:solidFill>
                <a:latin typeface="Muller Black" pitchFamily="50" charset="-52"/>
                <a:ea typeface="Microsoft JhengHei UI Light" panose="020B0304030504040204" pitchFamily="34" charset="-120"/>
              </a:rPr>
              <a:t> –</a:t>
            </a:r>
            <a:r>
              <a:rPr sz="6000" dirty="0">
                <a:solidFill>
                  <a:schemeClr val="bg1"/>
                </a:solidFill>
                <a:latin typeface="Muller Black" pitchFamily="50" charset="-52"/>
                <a:ea typeface="Microsoft JhengHei UI Light" panose="020B0304030504040204" pitchFamily="34" charset="-120"/>
              </a:rPr>
              <a:t> Telegram</a:t>
            </a:r>
            <a:r>
              <a:rPr lang="ru-RU" sz="6000" dirty="0">
                <a:solidFill>
                  <a:schemeClr val="bg1"/>
                </a:solidFill>
                <a:latin typeface="Muller Black" pitchFamily="50" charset="-52"/>
                <a:ea typeface="Microsoft JhengHei UI Light" panose="020B0304030504040204" pitchFamily="34" charset="-120"/>
              </a:rPr>
              <a:t> </a:t>
            </a:r>
            <a:r>
              <a:rPr sz="6000" dirty="0" err="1">
                <a:solidFill>
                  <a:schemeClr val="bg1"/>
                </a:solidFill>
                <a:latin typeface="Muller Black" pitchFamily="50" charset="-52"/>
                <a:ea typeface="Microsoft JhengHei UI Light" panose="020B0304030504040204" pitchFamily="34" charset="-120"/>
              </a:rPr>
              <a:t>чат‑бот</a:t>
            </a:r>
            <a:r>
              <a:rPr sz="6000" dirty="0">
                <a:solidFill>
                  <a:schemeClr val="bg1"/>
                </a:solidFill>
                <a:latin typeface="Muller Black" pitchFamily="50" charset="-52"/>
                <a:ea typeface="Microsoft JhengHei UI Light" panose="020B0304030504040204" pitchFamily="34" charset="-120"/>
              </a:rPr>
              <a:t> </a:t>
            </a:r>
            <a:r>
              <a:rPr sz="6000" dirty="0" err="1">
                <a:solidFill>
                  <a:schemeClr val="bg1"/>
                </a:solidFill>
                <a:latin typeface="Muller Black" pitchFamily="50" charset="-52"/>
                <a:ea typeface="Microsoft JhengHei UI Light" panose="020B0304030504040204" pitchFamily="34" charset="-120"/>
              </a:rPr>
              <a:t>для</a:t>
            </a:r>
            <a:r>
              <a:rPr sz="6000" dirty="0">
                <a:solidFill>
                  <a:schemeClr val="bg1"/>
                </a:solidFill>
                <a:latin typeface="Muller Black" pitchFamily="50" charset="-52"/>
                <a:ea typeface="Microsoft JhengHei UI Light" panose="020B0304030504040204" pitchFamily="34" charset="-120"/>
              </a:rPr>
              <a:t> НКО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E20A56-FF79-6764-9E10-62F7FB2D5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737" y="203149"/>
            <a:ext cx="3530596" cy="33826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B72B3D3-FC0E-5DE1-D503-6C523A65A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2" y="5712852"/>
            <a:ext cx="1452031" cy="941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b="1" dirty="0" err="1">
                <a:solidFill>
                  <a:schemeClr val="bg1"/>
                </a:solidFill>
                <a:latin typeface="Muller Black" pitchFamily="50" charset="-52"/>
              </a:rPr>
              <a:t>Основные</a:t>
            </a:r>
            <a:r>
              <a:rPr sz="4800" b="1"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sz="4800" b="1" dirty="0" err="1">
                <a:solidFill>
                  <a:schemeClr val="bg1"/>
                </a:solidFill>
                <a:latin typeface="Muller Black" pitchFamily="50" charset="-52"/>
              </a:rPr>
              <a:t>возможности</a:t>
            </a:r>
            <a:endParaRPr sz="4800" b="1" dirty="0">
              <a:solidFill>
                <a:schemeClr val="bg1"/>
              </a:solidFill>
              <a:latin typeface="Muller Black" pitchFamily="50" charset="-5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3650" y="1508125"/>
            <a:ext cx="6616700" cy="3841749"/>
          </a:xfrm>
        </p:spPr>
        <p:txBody>
          <a:bodyPr>
            <a:normAutofit fontScale="25000" lnSpcReduction="20000"/>
          </a:bodyPr>
          <a:lstStyle/>
          <a:p>
            <a:endParaRPr dirty="0">
              <a:latin typeface="Muller Black" pitchFamily="50" charset="-52"/>
            </a:endParaRPr>
          </a:p>
          <a:p>
            <a:pPr>
              <a:defRPr sz="2200">
                <a:latin typeface="Century Gothic"/>
              </a:defRPr>
            </a:pPr>
            <a:r>
              <a:rPr sz="14400" dirty="0">
                <a:solidFill>
                  <a:schemeClr val="bg1"/>
                </a:solidFill>
                <a:latin typeface="Muller Black" pitchFamily="50" charset="-52"/>
              </a:rPr>
              <a:t>• </a:t>
            </a:r>
            <a:r>
              <a:rPr sz="14400" dirty="0" err="1">
                <a:solidFill>
                  <a:schemeClr val="bg1"/>
                </a:solidFill>
                <a:latin typeface="Muller Black" pitchFamily="50" charset="-52"/>
              </a:rPr>
              <a:t>Генерация</a:t>
            </a:r>
            <a:r>
              <a:rPr sz="14400"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sz="14400" dirty="0" err="1">
                <a:solidFill>
                  <a:schemeClr val="bg1"/>
                </a:solidFill>
                <a:latin typeface="Muller Black" pitchFamily="50" charset="-52"/>
              </a:rPr>
              <a:t>текста</a:t>
            </a:r>
            <a:endParaRPr sz="14400" dirty="0">
              <a:solidFill>
                <a:schemeClr val="bg1"/>
              </a:solidFill>
              <a:latin typeface="Muller Black" pitchFamily="50" charset="-52"/>
            </a:endParaRPr>
          </a:p>
          <a:p>
            <a:pPr>
              <a:defRPr sz="2200">
                <a:latin typeface="Century Gothic"/>
              </a:defRPr>
            </a:pPr>
            <a:r>
              <a:rPr sz="14400" dirty="0">
                <a:solidFill>
                  <a:schemeClr val="bg1"/>
                </a:solidFill>
                <a:latin typeface="Muller Black" pitchFamily="50" charset="-52"/>
              </a:rPr>
              <a:t>• </a:t>
            </a:r>
            <a:r>
              <a:rPr sz="14400" dirty="0" err="1">
                <a:solidFill>
                  <a:schemeClr val="bg1"/>
                </a:solidFill>
                <a:latin typeface="Muller Black" pitchFamily="50" charset="-52"/>
              </a:rPr>
              <a:t>Генерация</a:t>
            </a:r>
            <a:r>
              <a:rPr sz="14400"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sz="14400" dirty="0" err="1">
                <a:solidFill>
                  <a:schemeClr val="bg1"/>
                </a:solidFill>
                <a:latin typeface="Muller Black" pitchFamily="50" charset="-52"/>
              </a:rPr>
              <a:t>изображений</a:t>
            </a:r>
            <a:endParaRPr sz="14400" dirty="0">
              <a:solidFill>
                <a:schemeClr val="bg1"/>
              </a:solidFill>
              <a:latin typeface="Muller Black" pitchFamily="50" charset="-52"/>
            </a:endParaRPr>
          </a:p>
          <a:p>
            <a:pPr>
              <a:defRPr sz="2200">
                <a:latin typeface="Century Gothic"/>
              </a:defRPr>
            </a:pPr>
            <a:r>
              <a:rPr sz="14400" dirty="0">
                <a:solidFill>
                  <a:schemeClr val="bg1"/>
                </a:solidFill>
                <a:latin typeface="Muller Black" pitchFamily="50" charset="-52"/>
              </a:rPr>
              <a:t>• </a:t>
            </a:r>
            <a:r>
              <a:rPr sz="14400" dirty="0" err="1">
                <a:solidFill>
                  <a:schemeClr val="bg1"/>
                </a:solidFill>
                <a:latin typeface="Muller Black" pitchFamily="50" charset="-52"/>
              </a:rPr>
              <a:t>Редактор</a:t>
            </a:r>
            <a:r>
              <a:rPr sz="14400"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sz="14400" dirty="0" err="1">
                <a:solidFill>
                  <a:schemeClr val="bg1"/>
                </a:solidFill>
                <a:latin typeface="Muller Black" pitchFamily="50" charset="-52"/>
              </a:rPr>
              <a:t>текста</a:t>
            </a:r>
            <a:endParaRPr sz="14400" dirty="0">
              <a:solidFill>
                <a:schemeClr val="bg1"/>
              </a:solidFill>
              <a:latin typeface="Muller Black" pitchFamily="50" charset="-52"/>
            </a:endParaRPr>
          </a:p>
          <a:p>
            <a:pPr>
              <a:defRPr sz="2200">
                <a:latin typeface="Century Gothic"/>
              </a:defRPr>
            </a:pPr>
            <a:r>
              <a:rPr sz="14400" dirty="0">
                <a:solidFill>
                  <a:schemeClr val="bg1"/>
                </a:solidFill>
                <a:latin typeface="Muller Black" pitchFamily="50" charset="-52"/>
              </a:rPr>
              <a:t>• </a:t>
            </a:r>
            <a:r>
              <a:rPr sz="14400" dirty="0" err="1">
                <a:solidFill>
                  <a:schemeClr val="bg1"/>
                </a:solidFill>
                <a:latin typeface="Muller Black" pitchFamily="50" charset="-52"/>
              </a:rPr>
              <a:t>Создание</a:t>
            </a:r>
            <a:r>
              <a:rPr sz="14400"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sz="14400" dirty="0" err="1">
                <a:solidFill>
                  <a:schemeClr val="bg1"/>
                </a:solidFill>
                <a:latin typeface="Muller Black" pitchFamily="50" charset="-52"/>
              </a:rPr>
              <a:t>контент‑плана</a:t>
            </a:r>
            <a:endParaRPr sz="14400" dirty="0">
              <a:solidFill>
                <a:schemeClr val="bg1"/>
              </a:solidFill>
              <a:latin typeface="Muller Black" pitchFamily="50" charset="-52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7AADAA-96E2-9D8E-A0FD-ACC41BFA3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302" y="5712852"/>
            <a:ext cx="1452031" cy="94199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017264-8869-E646-8A8F-5DF05E67B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1737" y="203149"/>
            <a:ext cx="3530596" cy="3382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 dirty="0" err="1">
                <a:solidFill>
                  <a:schemeClr val="bg1"/>
                </a:solidFill>
                <a:latin typeface="Muller Black" pitchFamily="50" charset="-52"/>
              </a:rPr>
              <a:t>Сбор</a:t>
            </a:r>
            <a:r>
              <a:rPr sz="4000" b="1"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sz="4000" b="1" dirty="0" err="1">
                <a:solidFill>
                  <a:schemeClr val="bg1"/>
                </a:solidFill>
                <a:latin typeface="Muller Black" pitchFamily="50" charset="-52"/>
              </a:rPr>
              <a:t>информации</a:t>
            </a:r>
            <a:r>
              <a:rPr sz="4000" b="1"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sz="4000" b="1" dirty="0" err="1">
                <a:solidFill>
                  <a:schemeClr val="bg1"/>
                </a:solidFill>
                <a:latin typeface="Muller Black" pitchFamily="50" charset="-52"/>
              </a:rPr>
              <a:t>об</a:t>
            </a:r>
            <a:r>
              <a:rPr sz="4000" b="1" dirty="0">
                <a:solidFill>
                  <a:schemeClr val="bg1"/>
                </a:solidFill>
                <a:latin typeface="Muller Black" pitchFamily="50" charset="-52"/>
              </a:rPr>
              <a:t> НКО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686300"/>
          </a:xfrm>
        </p:spPr>
        <p:txBody>
          <a:bodyPr/>
          <a:lstStyle/>
          <a:p>
            <a:endParaRPr dirty="0">
              <a:solidFill>
                <a:schemeClr val="bg1"/>
              </a:solidFill>
              <a:latin typeface="Muller Black" pitchFamily="50" charset="-52"/>
            </a:endParaRPr>
          </a:p>
          <a:p>
            <a:pPr>
              <a:defRPr sz="2200">
                <a:latin typeface="Century Gothic"/>
              </a:defRPr>
            </a:pP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•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Пошаговые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вопросы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: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название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,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описание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,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виды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деятельности</a:t>
            </a:r>
            <a:endParaRPr dirty="0">
              <a:solidFill>
                <a:schemeClr val="bg1"/>
              </a:solidFill>
              <a:latin typeface="Muller Black" pitchFamily="50" charset="-52"/>
            </a:endParaRPr>
          </a:p>
          <a:p>
            <a:pPr>
              <a:defRPr sz="2200">
                <a:latin typeface="Century Gothic"/>
              </a:defRPr>
            </a:pP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•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Возможность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пропустить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этап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и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продолжить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работу</a:t>
            </a:r>
            <a:endParaRPr dirty="0">
              <a:solidFill>
                <a:schemeClr val="bg1"/>
              </a:solidFill>
              <a:latin typeface="Muller Black" pitchFamily="50" charset="-52"/>
            </a:endParaRPr>
          </a:p>
          <a:p>
            <a:pPr>
              <a:defRPr sz="2200">
                <a:latin typeface="Century Gothic"/>
              </a:defRPr>
            </a:pP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•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Генерация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персонализированного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или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нейтрального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контента</a:t>
            </a:r>
            <a:endParaRPr dirty="0">
              <a:solidFill>
                <a:schemeClr val="bg1"/>
              </a:solidFill>
              <a:latin typeface="Muller Black" pitchFamily="50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94C777D-607A-5E02-032C-382C385F5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691" y="1600200"/>
            <a:ext cx="2483644" cy="416026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4A593D-0CA4-A492-1737-7E3F8D238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2" y="5712852"/>
            <a:ext cx="1452031" cy="94199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550DC7D-C235-588D-09C3-8656F4965D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1737" y="203149"/>
            <a:ext cx="3530596" cy="3382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 dirty="0" err="1">
                <a:solidFill>
                  <a:schemeClr val="bg1"/>
                </a:solidFill>
                <a:latin typeface="Muller Black" pitchFamily="50" charset="-52"/>
              </a:rPr>
              <a:t>Функция</a:t>
            </a:r>
            <a:r>
              <a:rPr sz="4000" b="1"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lang="en-US" sz="4000" b="1" dirty="0">
                <a:solidFill>
                  <a:schemeClr val="bg1"/>
                </a:solidFill>
                <a:latin typeface="Muller Black" pitchFamily="50" charset="-52"/>
              </a:rPr>
              <a:t>"</a:t>
            </a:r>
            <a:r>
              <a:rPr sz="4000" b="1" dirty="0" err="1">
                <a:solidFill>
                  <a:schemeClr val="bg1"/>
                </a:solidFill>
                <a:latin typeface="Muller Black" pitchFamily="50" charset="-52"/>
              </a:rPr>
              <a:t>Генерация</a:t>
            </a:r>
            <a:r>
              <a:rPr sz="4000" b="1"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sz="4000" b="1" dirty="0" err="1">
                <a:solidFill>
                  <a:schemeClr val="bg1"/>
                </a:solidFill>
                <a:latin typeface="Muller Black" pitchFamily="50" charset="-52"/>
              </a:rPr>
              <a:t>текста</a:t>
            </a:r>
            <a:r>
              <a:rPr lang="en-US" sz="4000" b="1" dirty="0">
                <a:solidFill>
                  <a:schemeClr val="bg1"/>
                </a:solidFill>
                <a:latin typeface="Muller Black" pitchFamily="50" charset="-52"/>
              </a:rPr>
              <a:t>"</a:t>
            </a:r>
            <a:endParaRPr sz="4000" b="1" dirty="0">
              <a:solidFill>
                <a:schemeClr val="bg1"/>
              </a:solidFill>
              <a:latin typeface="Muller Black" pitchFamily="50" charset="-5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1417638"/>
            <a:ext cx="4114800" cy="4525963"/>
          </a:xfrm>
        </p:spPr>
        <p:txBody>
          <a:bodyPr>
            <a:normAutofit/>
          </a:bodyPr>
          <a:lstStyle/>
          <a:p>
            <a:endParaRPr dirty="0">
              <a:solidFill>
                <a:schemeClr val="bg1"/>
              </a:solidFill>
              <a:latin typeface="Muller Black" pitchFamily="50" charset="-52"/>
            </a:endParaRPr>
          </a:p>
          <a:p>
            <a:pPr>
              <a:defRPr sz="2200">
                <a:latin typeface="Century Gothic"/>
              </a:defRPr>
            </a:pP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•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Свободный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текст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—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бот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превращает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идею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в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готовый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пост</a:t>
            </a:r>
            <a:endParaRPr dirty="0">
              <a:solidFill>
                <a:schemeClr val="bg1"/>
              </a:solidFill>
              <a:latin typeface="Muller Black" pitchFamily="50" charset="-52"/>
            </a:endParaRPr>
          </a:p>
          <a:p>
            <a:pPr>
              <a:defRPr sz="2200">
                <a:latin typeface="Century Gothic"/>
              </a:defRPr>
            </a:pP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•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Структурированная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форма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—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пошаговые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вопросы</a:t>
            </a:r>
            <a:endParaRPr dirty="0">
              <a:solidFill>
                <a:schemeClr val="bg1"/>
              </a:solidFill>
              <a:latin typeface="Muller Black" pitchFamily="50" charset="-52"/>
            </a:endParaRPr>
          </a:p>
          <a:p>
            <a:pPr>
              <a:defRPr sz="2200">
                <a:latin typeface="Century Gothic"/>
              </a:defRPr>
            </a:pP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•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Генерация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на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основе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примеров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готовых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постов</a:t>
            </a:r>
            <a:endParaRPr dirty="0">
              <a:solidFill>
                <a:schemeClr val="bg1"/>
              </a:solidFill>
              <a:latin typeface="Muller Black" pitchFamily="50" charset="-52"/>
            </a:endParaRPr>
          </a:p>
          <a:p>
            <a:pPr>
              <a:defRPr sz="2200">
                <a:latin typeface="Century Gothic"/>
              </a:defRPr>
            </a:pP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•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Грамотно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оформленный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текст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с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хэштегом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по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теме</a:t>
            </a:r>
            <a:endParaRPr dirty="0">
              <a:solidFill>
                <a:schemeClr val="bg1"/>
              </a:solidFill>
              <a:latin typeface="Muller Black" pitchFamily="50" charset="-52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F656E8F-5BF5-8A4F-C28B-70EA835F1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302" y="5712852"/>
            <a:ext cx="1452031" cy="94199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40F6EB-CDC8-FABB-D7B7-5EF894DEB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1737" y="203149"/>
            <a:ext cx="3530596" cy="3382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000" b="1" dirty="0" err="1">
                <a:solidFill>
                  <a:schemeClr val="bg1"/>
                </a:solidFill>
                <a:latin typeface="Muller Black" pitchFamily="50" charset="-52"/>
              </a:rPr>
              <a:t>Функция</a:t>
            </a:r>
            <a:r>
              <a:rPr sz="4000" b="1"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lang="en-US" sz="4000" b="1" dirty="0">
                <a:solidFill>
                  <a:schemeClr val="bg1"/>
                </a:solidFill>
                <a:latin typeface="Muller Black" pitchFamily="50" charset="-52"/>
              </a:rPr>
              <a:t>"</a:t>
            </a:r>
            <a:r>
              <a:rPr sz="4000" b="1" dirty="0" err="1">
                <a:solidFill>
                  <a:schemeClr val="bg1"/>
                </a:solidFill>
                <a:latin typeface="Muller Black" pitchFamily="50" charset="-52"/>
              </a:rPr>
              <a:t>Генерация</a:t>
            </a:r>
            <a:r>
              <a:rPr sz="4000" b="1"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sz="4000" b="1" dirty="0" err="1">
                <a:solidFill>
                  <a:schemeClr val="bg1"/>
                </a:solidFill>
                <a:latin typeface="Muller Black" pitchFamily="50" charset="-52"/>
              </a:rPr>
              <a:t>картинки</a:t>
            </a:r>
            <a:r>
              <a:rPr lang="en-US" sz="4000" b="1" dirty="0">
                <a:solidFill>
                  <a:schemeClr val="bg1"/>
                </a:solidFill>
                <a:latin typeface="Muller Black" pitchFamily="50" charset="-52"/>
              </a:rPr>
              <a:t>"</a:t>
            </a:r>
            <a:endParaRPr sz="4000" b="1" dirty="0">
              <a:solidFill>
                <a:schemeClr val="bg1"/>
              </a:solidFill>
              <a:latin typeface="Muller Black" pitchFamily="50" charset="-5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endParaRPr dirty="0">
              <a:solidFill>
                <a:schemeClr val="bg1"/>
              </a:solidFill>
              <a:latin typeface="Muller Black" pitchFamily="50" charset="-52"/>
            </a:endParaRPr>
          </a:p>
          <a:p>
            <a:pPr>
              <a:defRPr sz="2200">
                <a:latin typeface="Century Gothic"/>
              </a:defRPr>
            </a:pP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•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Работа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по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описанию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или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загруженным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файлам</a:t>
            </a:r>
            <a:endParaRPr dirty="0">
              <a:solidFill>
                <a:schemeClr val="bg1"/>
              </a:solidFill>
              <a:latin typeface="Muller Black" pitchFamily="50" charset="-52"/>
            </a:endParaRPr>
          </a:p>
          <a:p>
            <a:pPr>
              <a:defRPr sz="2200">
                <a:latin typeface="Century Gothic"/>
              </a:defRPr>
            </a:pP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•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Генерация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качественных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визуалов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без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искажений</a:t>
            </a:r>
            <a:endParaRPr dirty="0">
              <a:solidFill>
                <a:schemeClr val="bg1"/>
              </a:solidFill>
              <a:latin typeface="Muller Black" pitchFamily="50" charset="-52"/>
            </a:endParaRPr>
          </a:p>
          <a:p>
            <a:pPr>
              <a:defRPr sz="2200">
                <a:latin typeface="Century Gothic"/>
              </a:defRPr>
            </a:pP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•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Возможность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скачивания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и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использования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в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постах</a:t>
            </a:r>
            <a:endParaRPr dirty="0">
              <a:solidFill>
                <a:schemeClr val="bg1"/>
              </a:solidFill>
              <a:latin typeface="Muller Black" pitchFamily="50" charset="-52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AF607B-C9E6-5BDA-DA36-6EDE16744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302" y="5712852"/>
            <a:ext cx="1452031" cy="94199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AEF9766-BD31-33D7-3C78-8B102B2F0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1737" y="203149"/>
            <a:ext cx="3530596" cy="3382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 dirty="0" err="1">
                <a:solidFill>
                  <a:schemeClr val="bg1"/>
                </a:solidFill>
                <a:latin typeface="Muller Black" pitchFamily="50" charset="-52"/>
              </a:rPr>
              <a:t>Функция</a:t>
            </a:r>
            <a:r>
              <a:rPr sz="4000" b="1"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lang="en-US" sz="4000" b="1" dirty="0">
                <a:solidFill>
                  <a:schemeClr val="bg1"/>
                </a:solidFill>
                <a:latin typeface="Muller Black" pitchFamily="50" charset="-52"/>
              </a:rPr>
              <a:t>"</a:t>
            </a:r>
            <a:r>
              <a:rPr sz="4000" b="1" dirty="0" err="1">
                <a:solidFill>
                  <a:schemeClr val="bg1"/>
                </a:solidFill>
                <a:latin typeface="Muller Black" pitchFamily="50" charset="-52"/>
              </a:rPr>
              <a:t>Редактор</a:t>
            </a:r>
            <a:r>
              <a:rPr sz="4000" b="1"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sz="4000" b="1" dirty="0" err="1">
                <a:solidFill>
                  <a:schemeClr val="bg1"/>
                </a:solidFill>
                <a:latin typeface="Muller Black" pitchFamily="50" charset="-52"/>
              </a:rPr>
              <a:t>текста</a:t>
            </a:r>
            <a:r>
              <a:rPr lang="en-US" sz="4000" b="1" dirty="0">
                <a:solidFill>
                  <a:schemeClr val="bg1"/>
                </a:solidFill>
                <a:latin typeface="Muller Black" pitchFamily="50" charset="-52"/>
              </a:rPr>
              <a:t>"</a:t>
            </a:r>
            <a:endParaRPr sz="4000" b="1" dirty="0">
              <a:solidFill>
                <a:schemeClr val="bg1"/>
              </a:solidFill>
              <a:latin typeface="Muller Black" pitchFamily="50" charset="-5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1549400"/>
            <a:ext cx="4114800" cy="4525963"/>
          </a:xfrm>
        </p:spPr>
        <p:txBody>
          <a:bodyPr/>
          <a:lstStyle/>
          <a:p>
            <a:endParaRPr dirty="0">
              <a:solidFill>
                <a:schemeClr val="bg1"/>
              </a:solidFill>
              <a:latin typeface="Muller Black" pitchFamily="50" charset="-52"/>
            </a:endParaRPr>
          </a:p>
          <a:p>
            <a:pPr>
              <a:defRPr sz="2200">
                <a:latin typeface="Century Gothic"/>
              </a:defRPr>
            </a:pP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•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Исправление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орфографии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,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грамматики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и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логики</a:t>
            </a:r>
            <a:endParaRPr dirty="0">
              <a:solidFill>
                <a:schemeClr val="bg1"/>
              </a:solidFill>
              <a:latin typeface="Muller Black" pitchFamily="50" charset="-52"/>
            </a:endParaRPr>
          </a:p>
          <a:p>
            <a:pPr>
              <a:defRPr sz="2200">
                <a:latin typeface="Century Gothic"/>
              </a:defRPr>
            </a:pP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•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Предложения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по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улучшению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стиля</a:t>
            </a:r>
            <a:endParaRPr dirty="0">
              <a:solidFill>
                <a:schemeClr val="bg1"/>
              </a:solidFill>
              <a:latin typeface="Muller Black" pitchFamily="50" charset="-52"/>
            </a:endParaRPr>
          </a:p>
          <a:p>
            <a:pPr>
              <a:defRPr sz="2200">
                <a:latin typeface="Century Gothic"/>
              </a:defRPr>
            </a:pP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•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Вывод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исправленного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текста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и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отмеченных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ошибок</a:t>
            </a:r>
            <a:endParaRPr dirty="0">
              <a:solidFill>
                <a:schemeClr val="bg1"/>
              </a:solidFill>
              <a:latin typeface="Muller Black" pitchFamily="50" charset="-52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B6E538E-BDE3-2F86-7FAF-559479BCD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302" y="5712852"/>
            <a:ext cx="1452031" cy="94199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B909E7-C7AC-6185-D258-DFE3FD9E9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1737" y="203149"/>
            <a:ext cx="3530596" cy="3382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" y="160337"/>
            <a:ext cx="8915400" cy="1143000"/>
          </a:xfrm>
        </p:spPr>
        <p:txBody>
          <a:bodyPr>
            <a:normAutofit fontScale="90000"/>
          </a:bodyPr>
          <a:lstStyle/>
          <a:p>
            <a:r>
              <a:rPr sz="4000" b="1" dirty="0" err="1">
                <a:solidFill>
                  <a:schemeClr val="bg1"/>
                </a:solidFill>
                <a:latin typeface="Muller Black" pitchFamily="50" charset="-52"/>
              </a:rPr>
              <a:t>Функция</a:t>
            </a:r>
            <a:r>
              <a:rPr sz="4000" b="1"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lang="en-US" sz="4000" b="1" dirty="0">
                <a:solidFill>
                  <a:schemeClr val="bg1"/>
                </a:solidFill>
                <a:latin typeface="Muller Black" pitchFamily="50" charset="-52"/>
              </a:rPr>
              <a:t>"</a:t>
            </a:r>
            <a:r>
              <a:rPr sz="4000" b="1" dirty="0" err="1">
                <a:solidFill>
                  <a:schemeClr val="bg1"/>
                </a:solidFill>
                <a:latin typeface="Muller Black" pitchFamily="50" charset="-52"/>
              </a:rPr>
              <a:t>Создание</a:t>
            </a:r>
            <a:r>
              <a:rPr sz="4000" b="1"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sz="4000" b="1" dirty="0" err="1">
                <a:solidFill>
                  <a:schemeClr val="bg1"/>
                </a:solidFill>
                <a:latin typeface="Muller Black" pitchFamily="50" charset="-52"/>
              </a:rPr>
              <a:t>контент‑плана</a:t>
            </a:r>
            <a:r>
              <a:rPr lang="en-US" sz="4000" b="1" dirty="0">
                <a:solidFill>
                  <a:schemeClr val="bg1"/>
                </a:solidFill>
                <a:latin typeface="Muller Black" pitchFamily="50" charset="-52"/>
              </a:rPr>
              <a:t>"</a:t>
            </a:r>
            <a:endParaRPr sz="4000" b="1" dirty="0">
              <a:solidFill>
                <a:schemeClr val="bg1"/>
              </a:solidFill>
              <a:latin typeface="Muller Black" pitchFamily="50" charset="-5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endParaRPr dirty="0">
              <a:solidFill>
                <a:schemeClr val="bg1"/>
              </a:solidFill>
              <a:latin typeface="Muller Black" pitchFamily="50" charset="-52"/>
            </a:endParaRPr>
          </a:p>
          <a:p>
            <a:pPr>
              <a:defRPr sz="2200">
                <a:latin typeface="Century Gothic"/>
              </a:defRPr>
            </a:pP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•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Генерация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плана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на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заданный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период</a:t>
            </a:r>
            <a:endParaRPr dirty="0">
              <a:solidFill>
                <a:schemeClr val="bg1"/>
              </a:solidFill>
              <a:latin typeface="Muller Black" pitchFamily="50" charset="-52"/>
            </a:endParaRPr>
          </a:p>
          <a:p>
            <a:pPr>
              <a:defRPr sz="2200">
                <a:latin typeface="Century Gothic"/>
              </a:defRPr>
            </a:pP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•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Учёт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частоты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и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регулярности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публикаций</a:t>
            </a:r>
            <a:endParaRPr dirty="0">
              <a:solidFill>
                <a:schemeClr val="bg1"/>
              </a:solidFill>
              <a:latin typeface="Muller Black" pitchFamily="50" charset="-52"/>
            </a:endParaRPr>
          </a:p>
          <a:p>
            <a:pPr>
              <a:defRPr sz="2200">
                <a:latin typeface="Century Gothic"/>
              </a:defRPr>
            </a:pP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•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Структурированный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план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по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дням</a:t>
            </a:r>
            <a:r>
              <a:rPr dirty="0">
                <a:solidFill>
                  <a:schemeClr val="bg1"/>
                </a:solidFill>
                <a:latin typeface="Muller Black" pitchFamily="50" charset="-52"/>
              </a:rPr>
              <a:t> и </a:t>
            </a:r>
            <a:r>
              <a:rPr dirty="0" err="1">
                <a:solidFill>
                  <a:schemeClr val="bg1"/>
                </a:solidFill>
                <a:latin typeface="Muller Black" pitchFamily="50" charset="-52"/>
              </a:rPr>
              <a:t>категориям</a:t>
            </a:r>
            <a:endParaRPr dirty="0">
              <a:solidFill>
                <a:schemeClr val="bg1"/>
              </a:solidFill>
              <a:latin typeface="Muller Black" pitchFamily="50" charset="-52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859D19-002F-21F5-D455-983E291BF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302" y="5712852"/>
            <a:ext cx="1452031" cy="94199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DBA7C8-7638-A27B-5FDB-081C640CD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1737" y="203149"/>
            <a:ext cx="3530596" cy="3382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5E57AD-7C44-3496-37CC-E1F2693A6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>
                <a:solidFill>
                  <a:schemeClr val="bg1"/>
                </a:solidFill>
                <a:latin typeface="Muller Black" pitchFamily="50" charset="-52"/>
              </a:rPr>
              <a:t>Чат-бот </a:t>
            </a:r>
            <a:r>
              <a:rPr lang="en-US" sz="6000" dirty="0">
                <a:solidFill>
                  <a:schemeClr val="bg1"/>
                </a:solidFill>
                <a:latin typeface="Muller Black" pitchFamily="50" charset="-52"/>
              </a:rPr>
              <a:t>“</a:t>
            </a:r>
            <a:r>
              <a:rPr lang="ru-RU" sz="6000" dirty="0" err="1">
                <a:solidFill>
                  <a:schemeClr val="bg1"/>
                </a:solidFill>
                <a:latin typeface="Muller Black" pitchFamily="50" charset="-52"/>
              </a:rPr>
              <a:t>Синильга</a:t>
            </a:r>
            <a:r>
              <a:rPr lang="en-US" sz="6000" dirty="0">
                <a:solidFill>
                  <a:schemeClr val="bg1"/>
                </a:solidFill>
                <a:latin typeface="Muller Black" pitchFamily="50" charset="-52"/>
              </a:rPr>
              <a:t>”</a:t>
            </a:r>
            <a:endParaRPr lang="ru-RU" sz="6000" dirty="0">
              <a:solidFill>
                <a:schemeClr val="bg1"/>
              </a:solidFill>
              <a:latin typeface="Muller Black" pitchFamily="50" charset="-52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4559094-595B-B7B3-E08B-7F6532779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186" y="2088163"/>
            <a:ext cx="4133628" cy="26816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D35A76-CED6-B3EC-179C-25134B535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302" y="5712852"/>
            <a:ext cx="1452031" cy="94199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050688A-904D-33A4-5162-F3C2E6A64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1737" y="203149"/>
            <a:ext cx="3530596" cy="33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036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166</Words>
  <Application>Microsoft Office PowerPoint</Application>
  <PresentationFormat>Экран (4:3)</PresentationFormat>
  <Paragraphs>34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Muller Black</vt:lpstr>
      <vt:lpstr>Office Theme</vt:lpstr>
      <vt:lpstr>Синильга – Telegram чат‑бот для НКО</vt:lpstr>
      <vt:lpstr>Основные возможности</vt:lpstr>
      <vt:lpstr>Сбор информации об НКО</vt:lpstr>
      <vt:lpstr>Функция "Генерация текста"</vt:lpstr>
      <vt:lpstr>Функция "Генерация картинки"</vt:lpstr>
      <vt:lpstr>Функция "Редактор текста"</vt:lpstr>
      <vt:lpstr>Функция "Создание контент‑плана"</vt:lpstr>
      <vt:lpstr>Чат-бот “Синильга”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Владимир Щербаков</cp:lastModifiedBy>
  <cp:revision>5</cp:revision>
  <dcterms:created xsi:type="dcterms:W3CDTF">2013-01-27T09:14:16Z</dcterms:created>
  <dcterms:modified xsi:type="dcterms:W3CDTF">2025-11-16T13:55:04Z</dcterms:modified>
  <cp:category/>
</cp:coreProperties>
</file>